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DengueCAD is a disease-agnostic CAD stack. This deck walks through its components, the NMPrediction algorithm, data protocols, evaluation and CI/CD.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library does not assume dengue; any tabular dataset with a decision column can go through the same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the data folder, the scripts that orchestrate each experiment, the library layers, and outputs. NMI is a separate repository located via NMI_ROOT or ../NMI.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only depends on layers below it; the evaluation layer is what the experiment scripts 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1–2 impute only if values are missing. Step 3 is the GA wrapper. Steps 4–8 pool fold predictions to compute AUC, SE and SP. The selected features are also used for the hold-out validation and test 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Chromosomes are bit masks over features. Fitness is cross-validated accuracy minus a penalty proportional to subset size, which favours compact subsets.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orchestrates NM and baselines; holdout_experiment reuses nm_prediction, the imputers and the baselines. nm_prediction depends on feature_selection, baselines, metrics and nmi_support. adt is shared by baselines and the GA classifier factory.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70k rows go through NMI and NMPrediction as one dataset. From the rest, records with any missing value are dropped; the first 10k complete records are validation and the next 20k are the test set used to report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I reports pooled metrics, Table II the Wilcoxon test of NM against each baseline, Table III the features NM selected. Everything is collected in the comparison 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Used for dataset.csv and the canonical MissForest Iris demo (20% MCAR). Categorical cells must match exactly; real values within 5% relative tolerance.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on five dengue datasets and eleven disease ARFFs, 10 seeds each (3 for the 70k dengue.csv sample). Tables 1.1 and 2.1 score imputation of the masked cells, 1.2 and 2.2 score prediction of the hidden decisions. Results are in DengueCAD_Imputation_Prediction_Holdout.pdf.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is git-ignored; the PDF report is the committed record of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gates run locally with scripts/ci_local.sh before pushing. System tests clone the NMI library and use the datasets in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seams to use when adding a disease dataset, a new imputer or a new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Diagrams live as Mermaid in docs/ARCHITECTURE.md; images and slides are 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03120"/>
            <a:ext cx="10728655" cy="2743200"/>
          </a:xfrm>
          <a:prstGeom prst="rect">
            <a:avLst/>
          </a:prstGeom>
          <a:noFill/>
        </p:spPr>
        <p:txBody>
          <a:bodyPr wrap="square">
            <a:spAutoFit/>
          </a:bodyPr>
          <a:lstStyle/>
          <a:p>
            <a:pPr>
              <a:spcAft>
                <a:spcPts val="1200"/>
              </a:spcAft>
            </a:pPr>
            <a:r>
              <a:rPr sz="5400" b="1">
                <a:solidFill>
                  <a:srgbClr val="FFFFFF"/>
                </a:solidFill>
              </a:rPr>
              <a:t>DengueCAD</a:t>
            </a:r>
          </a:p>
          <a:p>
            <a:pPr>
              <a:spcAft>
                <a:spcPts val="1200"/>
              </a:spcAft>
            </a:pPr>
            <a:r>
              <a:rPr sz="3200" b="0">
                <a:solidFill>
                  <a:srgbClr val="BEE3F8"/>
                </a:solidFill>
              </a:rPr>
              <a:t>System Architecture</a:t>
            </a:r>
          </a:p>
          <a:p>
            <a:pPr>
              <a:spcAft>
                <a:spcPts val="1200"/>
              </a:spcAft>
            </a:pPr>
            <a:r>
              <a:rPr sz="2000" b="0">
                <a:solidFill>
                  <a:srgbClr val="FFFFFF"/>
                </a:solidFill>
              </a:rPr>
              <a:t>NMI imputation + NMPrediction (IEEE TITB 2012, Algorithm 1) for computer-aided diagnosis</a:t>
            </a:r>
          </a:p>
          <a:p>
            <a:pPr>
              <a:spcAft>
                <a:spcPts val="1200"/>
              </a:spcAft>
            </a:pPr>
            <a:r>
              <a:rPr sz="1600" b="0">
                <a:solidFill>
                  <a:srgbClr val="A0AEC0"/>
                </a:solidFil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What DengueCAD does</a:t>
            </a:r>
          </a:p>
        </p:txBody>
      </p:sp>
      <p:sp>
        <p:nvSpPr>
          <p:cNvPr id="3" name="TextBox 2"/>
          <p:cNvSpPr txBox="1"/>
          <p:nvPr/>
        </p:nvSpPr>
        <p:spPr>
          <a:xfrm>
            <a:off x="548640" y="1188720"/>
            <a:ext cx="11094415" cy="4937760"/>
          </a:xfrm>
          <a:prstGeom prst="rect">
            <a:avLst/>
          </a:prstGeom>
          <a:noFill/>
        </p:spPr>
        <p:txBody>
          <a:bodyPr wrap="square">
            <a:spAutoFit/>
          </a:bodyPr>
          <a:lstStyle/>
          <a:p>
            <a:pPr>
              <a:spcAft>
                <a:spcPts val="1000"/>
              </a:spcAft>
            </a:pPr>
            <a:r>
              <a:rPr sz="2400">
                <a:solidFill>
                  <a:srgbClr val="1A365D"/>
                </a:solidFill>
              </a:rPr>
              <a:t>•  Implements NMPrediction (Rao &amp; Kumar, IEEE TITB 2012)</a:t>
            </a:r>
          </a:p>
          <a:p>
            <a:pPr lvl="1">
              <a:spcAft>
                <a:spcPts val="1000"/>
              </a:spcAft>
            </a:pPr>
            <a:r>
              <a:rPr sz="2100">
                <a:solidFill>
                  <a:srgbClr val="4A5568"/>
                </a:solidFill>
              </a:rPr>
              <a:t>      –  NMI imputation → GA wrapper feature selection → stratified 10-fold ADT</a:t>
            </a:r>
          </a:p>
          <a:p>
            <a:pPr lvl="1">
              <a:spcAft>
                <a:spcPts val="1000"/>
              </a:spcAft>
            </a:pPr>
            <a:r>
              <a:rPr sz="2100">
                <a:solidFill>
                  <a:srgbClr val="4A5568"/>
                </a:solidFill>
              </a:rPr>
              <a:t>      –  Reports Accuracy, AUC, Sensitivity (SE), Specificity (SP)</a:t>
            </a:r>
          </a:p>
          <a:p>
            <a:pPr>
              <a:spcAft>
                <a:spcPts val="1000"/>
              </a:spcAft>
            </a:pPr>
            <a:r>
              <a:rPr sz="2400">
                <a:solidFill>
                  <a:srgbClr val="1A365D"/>
                </a:solidFill>
              </a:rPr>
              <a:t>•  Compares NM against C4.5, Logistic Regression (LOR) and SVM (RBF)</a:t>
            </a:r>
          </a:p>
          <a:p>
            <a:pPr lvl="1">
              <a:spcAft>
                <a:spcPts val="1000"/>
              </a:spcAft>
            </a:pPr>
            <a:r>
              <a:rPr sz="2100">
                <a:solidFill>
                  <a:srgbClr val="4A5568"/>
                </a:solidFill>
              </a:rPr>
              <a:t>      –  Table I performance · Table II Wilcoxon test · Table III influential features</a:t>
            </a:r>
          </a:p>
          <a:p>
            <a:pPr>
              <a:spcAft>
                <a:spcPts val="1000"/>
              </a:spcAft>
            </a:pPr>
            <a:r>
              <a:rPr sz="2400">
                <a:solidFill>
                  <a:srgbClr val="1A365D"/>
                </a:solidFill>
              </a:rPr>
              <a:t>•  Benchmarks imputation: NMI vs MissForest, MICE, kNN, Mean/Median/Mode</a:t>
            </a:r>
          </a:p>
          <a:p>
            <a:pPr lvl="1">
              <a:spcAft>
                <a:spcPts val="1000"/>
              </a:spcAft>
            </a:pPr>
            <a:r>
              <a:rPr sz="2100">
                <a:solidFill>
                  <a:srgbClr val="4A5568"/>
                </a:solidFill>
              </a:rPr>
              <a:t>      –  Hold-out experiment: imputation accuracy and hidden-decision prediction accuracy</a:t>
            </a:r>
          </a:p>
          <a:p>
            <a:pPr>
              <a:spcAft>
                <a:spcPts val="1000"/>
              </a:spcAft>
            </a:pPr>
            <a:r>
              <a:rPr sz="2400">
                <a:solidFill>
                  <a:srgbClr val="1A365D"/>
                </a:solidFill>
              </a:rPr>
              <a:t>•  Disease-agnostic: dengue CSVs plus 11 KEEL / Weka ARFF disease datasets</a:t>
            </a:r>
          </a:p>
          <a:p>
            <a:pPr>
              <a:spcAft>
                <a:spcPts val="1000"/>
              </a:spcAft>
            </a:pPr>
            <a:r>
              <a:rPr sz="2400">
                <a:solidFill>
                  <a:srgbClr val="1A365D"/>
                </a:solidFill>
              </a:rPr>
              <a:t>•  Reproducible: scripted experiments, generated PDF report, CI on every push</a:t>
            </a:r>
          </a:p>
        </p:txBody>
      </p:sp>
      <p:sp>
        <p:nvSpPr>
          <p:cNvPr id="4" name="TextBox 3"/>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System overview</a:t>
            </a:r>
          </a:p>
        </p:txBody>
      </p:sp>
      <p:pic>
        <p:nvPicPr>
          <p:cNvPr id="3" name="Picture 2" descr="01-system-overview.png"/>
          <p:cNvPicPr>
            <a:picLocks noChangeAspect="1"/>
          </p:cNvPicPr>
          <p:nvPr/>
        </p:nvPicPr>
        <p:blipFill>
          <a:blip r:embed="rId2"/>
          <a:stretch>
            <a:fillRect/>
          </a:stretch>
        </p:blipFill>
        <p:spPr>
          <a:xfrm>
            <a:off x="1327936" y="914400"/>
            <a:ext cx="9535823" cy="5120640"/>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Data sources → experiment scripts → denguecad package → CSV results and PDF report; imputation delegates to the sibling NMI library.</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Package components</a:t>
            </a:r>
            <a:r>
              <a:rPr sz="1600">
                <a:solidFill>
                  <a:srgbClr val="BEE3F8"/>
                </a:solidFill>
              </a:rPr>
              <a:t>   denguecad/</a:t>
            </a:r>
          </a:p>
        </p:txBody>
      </p:sp>
      <p:graphicFrame>
        <p:nvGraphicFramePr>
          <p:cNvPr id="3" name="Table 2"/>
          <p:cNvGraphicFramePr>
            <a:graphicFrameLocks noGrp="1"/>
          </p:cNvGraphicFramePr>
          <p:nvPr/>
        </p:nvGraphicFramePr>
        <p:xfrm>
          <a:off x="274320" y="1280160"/>
          <a:ext cx="11643054" cy="3840480"/>
        </p:xfrm>
        <a:graphic>
          <a:graphicData uri="http://schemas.openxmlformats.org/drawingml/2006/table">
            <a:tbl>
              <a:tblPr firstRow="1" bandRow="1">
                <a:tableStyleId>{5C22544A-7EE6-4342-B048-85BDC9FD1C3A}</a:tableStyleId>
              </a:tblPr>
              <a:tblGrid>
                <a:gridCol w="1593260"/>
                <a:gridCol w="4412105"/>
                <a:gridCol w="5637689"/>
              </a:tblGrid>
              <a:tr h="548640">
                <a:tc>
                  <a:txBody>
                    <a:bodyPr/>
                    <a:lstStyle/>
                    <a:p>
                      <a:pPr>
                        <a:defRPr sz="1800" b="1">
                          <a:solidFill>
                            <a:srgbClr val="FFFFFF"/>
                          </a:solidFill>
                        </a:defRPr>
                      </a:pPr>
                      <a:r>
                        <a:t>Layer</a:t>
                      </a:r>
                    </a:p>
                  </a:txBody>
                  <a:tcPr>
                    <a:solidFill>
                      <a:srgbClr val="2C5282"/>
                    </a:solidFill>
                  </a:tcPr>
                </a:tc>
                <a:tc>
                  <a:txBody>
                    <a:bodyPr/>
                    <a:lstStyle/>
                    <a:p>
                      <a:pPr>
                        <a:defRPr sz="1800" b="1">
                          <a:solidFill>
                            <a:srgbClr val="FFFFFF"/>
                          </a:solidFill>
                        </a:defRPr>
                      </a:pPr>
                      <a:r>
                        <a:t>Modules</a:t>
                      </a:r>
                    </a:p>
                  </a:txBody>
                  <a:tcPr>
                    <a:solidFill>
                      <a:srgbClr val="2C5282"/>
                    </a:solidFill>
                  </a:tcPr>
                </a:tc>
                <a:tc>
                  <a:txBody>
                    <a:bodyPr/>
                    <a:lstStyle/>
                    <a:p>
                      <a:pPr>
                        <a:defRPr sz="1800" b="1">
                          <a:solidFill>
                            <a:srgbClr val="FFFFFF"/>
                          </a:solidFill>
                        </a:defRPr>
                      </a:pPr>
                      <a:r>
                        <a:t>Responsibility</a:t>
                      </a:r>
                    </a:p>
                  </a:txBody>
                  <a:tcPr>
                    <a:solidFill>
                      <a:srgbClr val="2C5282"/>
                    </a:solidFill>
                  </a:tcPr>
                </a:tc>
              </a:tr>
              <a:tr h="548640">
                <a:tc>
                  <a:txBody>
                    <a:bodyPr/>
                    <a:lstStyle/>
                    <a:p>
                      <a:pPr>
                        <a:defRPr sz="1800" b="0">
                          <a:solidFill>
                            <a:srgbClr val="1A365D"/>
                          </a:solidFill>
                        </a:defRPr>
                      </a:pPr>
                      <a:r>
                        <a:t>Data</a:t>
                      </a:r>
                    </a:p>
                  </a:txBody>
                  <a:tcPr>
                    <a:solidFill>
                      <a:srgbClr val="EBF4FF"/>
                    </a:solidFill>
                  </a:tcPr>
                </a:tc>
                <a:tc>
                  <a:txBody>
                    <a:bodyPr/>
                    <a:lstStyle/>
                    <a:p>
                      <a:pPr>
                        <a:defRPr sz="1800" b="0">
                          <a:solidFill>
                            <a:srgbClr val="1A365D"/>
                          </a:solidFill>
                        </a:defRPr>
                      </a:pPr>
                      <a:r>
                        <a:t>data_splits · arff_io · imputation_benchmark</a:t>
                      </a:r>
                    </a:p>
                  </a:txBody>
                  <a:tcPr>
                    <a:solidFill>
                      <a:srgbClr val="EBF4FF"/>
                    </a:solidFill>
                  </a:tcPr>
                </a:tc>
                <a:tc>
                  <a:txBody>
                    <a:bodyPr/>
                    <a:lstStyle/>
                    <a:p>
                      <a:pPr>
                        <a:defRPr sz="1800" b="0">
                          <a:solidFill>
                            <a:srgbClr val="1A365D"/>
                          </a:solidFill>
                        </a:defRPr>
                      </a:pPr>
                      <a:r>
                        <a:t>Load, encode, split (70k / 10k / 20k), ARFF with KEEL ranges</a:t>
                      </a:r>
                    </a:p>
                  </a:txBody>
                  <a:tcPr>
                    <a:solidFill>
                      <a:srgbClr val="EBF4FF"/>
                    </a:solidFill>
                  </a:tcPr>
                </a:tc>
              </a:tr>
              <a:tr h="548640">
                <a:tc>
                  <a:txBody>
                    <a:bodyPr/>
                    <a:lstStyle/>
                    <a:p>
                      <a:pPr>
                        <a:defRPr sz="1800" b="0">
                          <a:solidFill>
                            <a:srgbClr val="1A365D"/>
                          </a:solidFill>
                        </a:defRPr>
                      </a:pPr>
                      <a:r>
                        <a:t>Imputation</a:t>
                      </a:r>
                    </a:p>
                  </a:txBody>
                  <a:tcPr>
                    <a:solidFill>
                      <a:srgbClr val="FFFFFF"/>
                    </a:solidFill>
                  </a:tcPr>
                </a:tc>
                <a:tc>
                  <a:txBody>
                    <a:bodyPr/>
                    <a:lstStyle/>
                    <a:p>
                      <a:pPr>
                        <a:defRPr sz="1800" b="0">
                          <a:solidFill>
                            <a:srgbClr val="1A365D"/>
                          </a:solidFill>
                        </a:defRPr>
                      </a:pPr>
                      <a:r>
                        <a:t>nmi_support · imputation_benchmark · missforest_impute</a:t>
                      </a:r>
                    </a:p>
                  </a:txBody>
                  <a:tcPr>
                    <a:solidFill>
                      <a:srgbClr val="FFFFFF"/>
                    </a:solidFill>
                  </a:tcPr>
                </a:tc>
                <a:tc>
                  <a:txBody>
                    <a:bodyPr/>
                    <a:lstStyle/>
                    <a:p>
                      <a:pPr>
                        <a:defRPr sz="1800" b="0">
                          <a:solidFill>
                            <a:srgbClr val="1A365D"/>
                          </a:solidFill>
                        </a:defRPr>
                      </a:pPr>
                      <a:r>
                        <a:t>NMI, MICE, kNN, Mean/Mode, MissForest</a:t>
                      </a:r>
                    </a:p>
                  </a:txBody>
                  <a:tcPr>
                    <a:solidFill>
                      <a:srgbClr val="FFFFFF"/>
                    </a:solidFill>
                  </a:tcPr>
                </a:tc>
              </a:tr>
              <a:tr h="548640">
                <a:tc>
                  <a:txBody>
                    <a:bodyPr/>
                    <a:lstStyle/>
                    <a:p>
                      <a:pPr>
                        <a:defRPr sz="1800" b="0">
                          <a:solidFill>
                            <a:srgbClr val="1A365D"/>
                          </a:solidFill>
                        </a:defRPr>
                      </a:pPr>
                      <a:r>
                        <a:t>Algorithm</a:t>
                      </a:r>
                    </a:p>
                  </a:txBody>
                  <a:tcPr>
                    <a:solidFill>
                      <a:srgbClr val="EBF4FF"/>
                    </a:solidFill>
                  </a:tcPr>
                </a:tc>
                <a:tc>
                  <a:txBody>
                    <a:bodyPr/>
                    <a:lstStyle/>
                    <a:p>
                      <a:pPr>
                        <a:defRPr sz="1800" b="0">
                          <a:solidFill>
                            <a:srgbClr val="1A365D"/>
                          </a:solidFill>
                        </a:defRPr>
                      </a:pPr>
                      <a:r>
                        <a:t>nm_prediction · feature_selection</a:t>
                      </a:r>
                    </a:p>
                  </a:txBody>
                  <a:tcPr>
                    <a:solidFill>
                      <a:srgbClr val="EBF4FF"/>
                    </a:solidFill>
                  </a:tcPr>
                </a:tc>
                <a:tc>
                  <a:txBody>
                    <a:bodyPr/>
                    <a:lstStyle/>
                    <a:p>
                      <a:pPr>
                        <a:defRPr sz="1800" b="0">
                          <a:solidFill>
                            <a:srgbClr val="1A365D"/>
                          </a:solidFill>
                        </a:defRPr>
                      </a:pPr>
                      <a:r>
                        <a:t>NMPrediction (Algorithm 1), GA wrapper search</a:t>
                      </a:r>
                    </a:p>
                  </a:txBody>
                  <a:tcPr>
                    <a:solidFill>
                      <a:srgbClr val="EBF4FF"/>
                    </a:solidFill>
                  </a:tcPr>
                </a:tc>
              </a:tr>
              <a:tr h="548640">
                <a:tc>
                  <a:txBody>
                    <a:bodyPr/>
                    <a:lstStyle/>
                    <a:p>
                      <a:pPr>
                        <a:defRPr sz="1800" b="0">
                          <a:solidFill>
                            <a:srgbClr val="1A365D"/>
                          </a:solidFill>
                        </a:defRPr>
                      </a:pPr>
                      <a:r>
                        <a:t>Learners</a:t>
                      </a:r>
                    </a:p>
                  </a:txBody>
                  <a:tcPr>
                    <a:solidFill>
                      <a:srgbClr val="FFFFFF"/>
                    </a:solidFill>
                  </a:tcPr>
                </a:tc>
                <a:tc>
                  <a:txBody>
                    <a:bodyPr/>
                    <a:lstStyle/>
                    <a:p>
                      <a:pPr>
                        <a:defRPr sz="1800" b="0">
                          <a:solidFill>
                            <a:srgbClr val="1A365D"/>
                          </a:solidFill>
                        </a:defRPr>
                      </a:pPr>
                      <a:r>
                        <a:t>adt · baselines · classifiers</a:t>
                      </a:r>
                    </a:p>
                  </a:txBody>
                  <a:tcPr>
                    <a:solidFill>
                      <a:srgbClr val="FFFFFF"/>
                    </a:solidFill>
                  </a:tcPr>
                </a:tc>
                <a:tc>
                  <a:txBody>
                    <a:bodyPr/>
                    <a:lstStyle/>
                    <a:p>
                      <a:pPr>
                        <a:defRPr sz="1800" b="0">
                          <a:solidFill>
                            <a:srgbClr val="1A365D"/>
                          </a:solidFill>
                        </a:defRPr>
                      </a:pPr>
                      <a:r>
                        <a:t>ADT, C4.5, LOR, SVM (RBF), classifier factory</a:t>
                      </a:r>
                    </a:p>
                  </a:txBody>
                  <a:tcPr>
                    <a:solidFill>
                      <a:srgbClr val="FFFFFF"/>
                    </a:solidFill>
                  </a:tcPr>
                </a:tc>
              </a:tr>
              <a:tr h="548640">
                <a:tc>
                  <a:txBody>
                    <a:bodyPr/>
                    <a:lstStyle/>
                    <a:p>
                      <a:pPr>
                        <a:defRPr sz="1800" b="0">
                          <a:solidFill>
                            <a:srgbClr val="1A365D"/>
                          </a:solidFill>
                        </a:defRPr>
                      </a:pPr>
                      <a:r>
                        <a:t>Evaluation</a:t>
                      </a:r>
                    </a:p>
                  </a:txBody>
                  <a:tcPr>
                    <a:solidFill>
                      <a:srgbClr val="EBF4FF"/>
                    </a:solidFill>
                  </a:tcPr>
                </a:tc>
                <a:tc>
                  <a:txBody>
                    <a:bodyPr/>
                    <a:lstStyle/>
                    <a:p>
                      <a:pPr>
                        <a:defRPr sz="1800" b="0">
                          <a:solidFill>
                            <a:srgbClr val="1A365D"/>
                          </a:solidFill>
                        </a:defRPr>
                      </a:pPr>
                      <a:r>
                        <a:t>metrics · comparison · holdout_experiment</a:t>
                      </a:r>
                    </a:p>
                  </a:txBody>
                  <a:tcPr>
                    <a:solidFill>
                      <a:srgbClr val="EBF4FF"/>
                    </a:solidFill>
                  </a:tcPr>
                </a:tc>
                <a:tc>
                  <a:txBody>
                    <a:bodyPr/>
                    <a:lstStyle/>
                    <a:p>
                      <a:pPr>
                        <a:defRPr sz="1800" b="0">
                          <a:solidFill>
                            <a:srgbClr val="1A365D"/>
                          </a:solidFill>
                        </a:defRPr>
                      </a:pPr>
                      <a:r>
                        <a:t>Accuracy/AUC/SE/SP, Tables I–III, Wilcoxon, hold-out protocol</a:t>
                      </a:r>
                    </a:p>
                  </a:txBody>
                  <a:tcPr>
                    <a:solidFill>
                      <a:srgbClr val="EBF4FF"/>
                    </a:solidFill>
                  </a:tcPr>
                </a:tc>
              </a:tr>
              <a:tr h="548640">
                <a:tc>
                  <a:txBody>
                    <a:bodyPr/>
                    <a:lstStyle/>
                    <a:p>
                      <a:pPr>
                        <a:defRPr sz="1800" b="0">
                          <a:solidFill>
                            <a:srgbClr val="1A365D"/>
                          </a:solidFill>
                        </a:defRPr>
                      </a:pPr>
                      <a:r>
                        <a:t>Reporting</a:t>
                      </a:r>
                    </a:p>
                  </a:txBody>
                  <a:tcPr>
                    <a:solidFill>
                      <a:srgbClr val="FFFFFF"/>
                    </a:solidFill>
                  </a:tcPr>
                </a:tc>
                <a:tc>
                  <a:txBody>
                    <a:bodyPr/>
                    <a:lstStyle/>
                    <a:p>
                      <a:pPr>
                        <a:defRPr sz="1800" b="0">
                          <a:solidFill>
                            <a:srgbClr val="1A365D"/>
                          </a:solidFill>
                        </a:defRPr>
                      </a:pPr>
                      <a:r>
                        <a:t>build_comparison_pdf · build_holdout_comparison_pdf</a:t>
                      </a:r>
                    </a:p>
                  </a:txBody>
                  <a:tcPr>
                    <a:solidFill>
                      <a:srgbClr val="FFFFFF"/>
                    </a:solidFill>
                  </a:tcPr>
                </a:tc>
                <a:tc>
                  <a:txBody>
                    <a:bodyPr/>
                    <a:lstStyle/>
                    <a:p>
                      <a:pPr>
                        <a:defRPr sz="1800" b="0">
                          <a:solidFill>
                            <a:srgbClr val="1A365D"/>
                          </a:solidFill>
                        </a:defRPr>
                      </a:pPr>
                      <a:r>
                        <a:t>Performance and hold-out PDF reports with highlighted best results</a:t>
                      </a:r>
                    </a:p>
                  </a:txBody>
                  <a:tcPr>
                    <a:solidFill>
                      <a:srgbClr val="FFFFFF"/>
                    </a:solidFill>
                  </a:tcPr>
                </a:tc>
              </a:tr>
            </a:tbl>
          </a:graphicData>
        </a:graphic>
      </p:graphicFrame>
      <p:sp>
        <p:nvSpPr>
          <p:cNvPr id="4" name="TextBox 3"/>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NMPrediction pipeline</a:t>
            </a:r>
            <a:r>
              <a:rPr sz="1600">
                <a:solidFill>
                  <a:srgbClr val="BEE3F8"/>
                </a:solidFill>
              </a:rPr>
              <a:t>   Algorithm 1</a:t>
            </a:r>
          </a:p>
        </p:txBody>
      </p:sp>
      <p:pic>
        <p:nvPicPr>
          <p:cNvPr id="3" name="Picture 2" descr="02-nmprediction-pipeline.png"/>
          <p:cNvPicPr>
            <a:picLocks noChangeAspect="1"/>
          </p:cNvPicPr>
          <p:nvPr/>
        </p:nvPicPr>
        <p:blipFill>
          <a:blip r:embed="rId2"/>
          <a:stretch>
            <a:fillRect/>
          </a:stretch>
        </p:blipFill>
        <p:spPr>
          <a:xfrm>
            <a:off x="274320" y="1410454"/>
            <a:ext cx="11643055" cy="4128532"/>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Algorithm 1: impute missing values with NMI, pick influential features with a GA wrapper, then score ADT with stratified 10-fold CV.</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GA wrapper feature selection</a:t>
            </a:r>
            <a:r>
              <a:rPr sz="1600">
                <a:solidFill>
                  <a:srgbClr val="BEE3F8"/>
                </a:solidFill>
              </a:rPr>
              <a:t>   Section C</a:t>
            </a:r>
          </a:p>
        </p:txBody>
      </p:sp>
      <p:pic>
        <p:nvPicPr>
          <p:cNvPr id="3" name="Picture 2" descr="03-ga-wrapper.png"/>
          <p:cNvPicPr>
            <a:picLocks noChangeAspect="1"/>
          </p:cNvPicPr>
          <p:nvPr/>
        </p:nvPicPr>
        <p:blipFill>
          <a:blip r:embed="rId2"/>
          <a:stretch>
            <a:fillRect/>
          </a:stretch>
        </p:blipFill>
        <p:spPr>
          <a:xfrm>
            <a:off x="882105" y="914400"/>
            <a:ext cx="10427485" cy="5120639"/>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Kohavi &amp; John wrapper: the classifier scores each subset. Pc = 1.0, Pm = 0.001, elitism 2, tournament 3, small subset-size penalty.</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Module dependencies</a:t>
            </a:r>
          </a:p>
        </p:txBody>
      </p:sp>
      <p:pic>
        <p:nvPicPr>
          <p:cNvPr id="3" name="Picture 2" descr="04-module-dependencies.png"/>
          <p:cNvPicPr>
            <a:picLocks noChangeAspect="1"/>
          </p:cNvPicPr>
          <p:nvPr/>
        </p:nvPicPr>
        <p:blipFill>
          <a:blip r:embed="rId2"/>
          <a:stretch>
            <a:fillRect/>
          </a:stretch>
        </p:blipFill>
        <p:spPr>
          <a:xfrm>
            <a:off x="274320" y="1165415"/>
            <a:ext cx="11643055" cy="4618609"/>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Arrows point to imported modules. Only nmi_support touches the external NMI library.</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Data protocol: dengue.csv</a:t>
            </a:r>
          </a:p>
        </p:txBody>
      </p:sp>
      <p:pic>
        <p:nvPicPr>
          <p:cNvPr id="3" name="Picture 2" descr="05-dengue-data-protocol.png"/>
          <p:cNvPicPr>
            <a:picLocks noChangeAspect="1"/>
          </p:cNvPicPr>
          <p:nvPr/>
        </p:nvPicPr>
        <p:blipFill>
          <a:blip r:embed="rId2"/>
          <a:stretch>
            <a:fillRect/>
          </a:stretch>
        </p:blipFill>
        <p:spPr>
          <a:xfrm>
            <a:off x="274320" y="1655493"/>
            <a:ext cx="11643055" cy="3638454"/>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70,000-row single training set · 10,000 complete-case validation · 20,000 complete-case test.</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NM vs baselines evaluation</a:t>
            </a:r>
          </a:p>
        </p:txBody>
      </p:sp>
      <p:pic>
        <p:nvPicPr>
          <p:cNvPr id="3" name="Picture 2" descr="06-evaluation-flow.png"/>
          <p:cNvPicPr>
            <a:picLocks noChangeAspect="1"/>
          </p:cNvPicPr>
          <p:nvPr/>
        </p:nvPicPr>
        <p:blipFill>
          <a:blip r:embed="rId2"/>
          <a:stretch>
            <a:fillRect/>
          </a:stretch>
        </p:blipFill>
        <p:spPr>
          <a:xfrm>
            <a:off x="274320" y="1388178"/>
            <a:ext cx="11643055" cy="4173084"/>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All methods share the same folds; per-fold accuracies feed the Wilcoxon signed-rank test.</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Imputation benchmark</a:t>
            </a:r>
          </a:p>
        </p:txBody>
      </p:sp>
      <p:pic>
        <p:nvPicPr>
          <p:cNvPr id="3" name="Picture 2" descr="07-imputation-benchmark.png"/>
          <p:cNvPicPr>
            <a:picLocks noChangeAspect="1"/>
          </p:cNvPicPr>
          <p:nvPr/>
        </p:nvPicPr>
        <p:blipFill>
          <a:blip r:embed="rId2"/>
          <a:stretch>
            <a:fillRect/>
          </a:stretch>
        </p:blipFill>
        <p:spPr>
          <a:xfrm>
            <a:off x="274320" y="1321349"/>
            <a:ext cx="11643055" cy="4306742"/>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Mask a complete dataset with MCAR missingness, impute with each method, score against ground truth and downstream classifiers.</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Imputation + prediction hold-out experiment</a:t>
            </a:r>
            <a:r>
              <a:rPr sz="1600">
                <a:solidFill>
                  <a:srgbClr val="BEE3F8"/>
                </a:solidFill>
              </a:rPr>
              <a:t>   holdout_experiment.py</a:t>
            </a:r>
          </a:p>
        </p:txBody>
      </p:sp>
      <p:pic>
        <p:nvPicPr>
          <p:cNvPr id="3" name="Picture 2" descr="09-holdout-protocol.png"/>
          <p:cNvPicPr>
            <a:picLocks noChangeAspect="1"/>
          </p:cNvPicPr>
          <p:nvPr/>
        </p:nvPicPr>
        <p:blipFill>
          <a:blip r:embed="rId2"/>
          <a:stretch>
            <a:fillRect/>
          </a:stretch>
        </p:blipFill>
        <p:spPr>
          <a:xfrm>
            <a:off x="2329823" y="914400"/>
            <a:ext cx="7532048" cy="5120640"/>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valid_set kept aside · 20% of records masked and imputed · NMI-imputed train_set · decisions hidden on 20% of a 30% hold-out and predicted.</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Experiment runners and outputs</a:t>
            </a:r>
            <a:r>
              <a:rPr sz="1600">
                <a:solidFill>
                  <a:srgbClr val="BEE3F8"/>
                </a:solidFill>
              </a:rPr>
              <a:t>   scripts/ → results/</a:t>
            </a:r>
          </a:p>
        </p:txBody>
      </p:sp>
      <p:graphicFrame>
        <p:nvGraphicFramePr>
          <p:cNvPr id="3" name="Table 2"/>
          <p:cNvGraphicFramePr>
            <a:graphicFrameLocks noGrp="1"/>
          </p:cNvGraphicFramePr>
          <p:nvPr/>
        </p:nvGraphicFramePr>
        <p:xfrm>
          <a:off x="274320" y="1143000"/>
          <a:ext cx="11643054" cy="4572000"/>
        </p:xfrm>
        <a:graphic>
          <a:graphicData uri="http://schemas.openxmlformats.org/drawingml/2006/table">
            <a:tbl>
              <a:tblPr firstRow="1" bandRow="1">
                <a:tableStyleId>{5C22544A-7EE6-4342-B048-85BDC9FD1C3A}</a:tableStyleId>
              </a:tblPr>
              <a:tblGrid>
                <a:gridCol w="3954245"/>
                <a:gridCol w="3295204"/>
                <a:gridCol w="4393605"/>
              </a:tblGrid>
              <a:tr h="457200">
                <a:tc>
                  <a:txBody>
                    <a:bodyPr/>
                    <a:lstStyle/>
                    <a:p>
                      <a:pPr>
                        <a:defRPr sz="1500" b="1">
                          <a:solidFill>
                            <a:srgbClr val="FFFFFF"/>
                          </a:solidFill>
                        </a:defRPr>
                      </a:pPr>
                      <a:r>
                        <a:t>Script</a:t>
                      </a:r>
                    </a:p>
                  </a:txBody>
                  <a:tcPr>
                    <a:solidFill>
                      <a:srgbClr val="2C5282"/>
                    </a:solidFill>
                  </a:tcPr>
                </a:tc>
                <a:tc>
                  <a:txBody>
                    <a:bodyPr/>
                    <a:lstStyle/>
                    <a:p>
                      <a:pPr>
                        <a:defRPr sz="1500" b="1">
                          <a:solidFill>
                            <a:srgbClr val="FFFFFF"/>
                          </a:solidFill>
                        </a:defRPr>
                      </a:pPr>
                      <a:r>
                        <a:t>Dataset</a:t>
                      </a:r>
                    </a:p>
                  </a:txBody>
                  <a:tcPr>
                    <a:solidFill>
                      <a:srgbClr val="2C5282"/>
                    </a:solidFill>
                  </a:tcPr>
                </a:tc>
                <a:tc>
                  <a:txBody>
                    <a:bodyPr/>
                    <a:lstStyle/>
                    <a:p>
                      <a:pPr>
                        <a:defRPr sz="1500" b="1">
                          <a:solidFill>
                            <a:srgbClr val="FFFFFF"/>
                          </a:solidFill>
                        </a:defRPr>
                      </a:pPr>
                      <a:r>
                        <a:t>Output</a:t>
                      </a:r>
                    </a:p>
                  </a:txBody>
                  <a:tcPr>
                    <a:solidFill>
                      <a:srgbClr val="2C5282"/>
                    </a:solidFill>
                  </a:tcPr>
                </a:tc>
              </a:tr>
              <a:tr h="457200">
                <a:tc>
                  <a:txBody>
                    <a:bodyPr/>
                    <a:lstStyle/>
                    <a:p>
                      <a:pPr>
                        <a:defRPr sz="1500" b="0">
                          <a:solidFill>
                            <a:srgbClr val="1A365D"/>
                          </a:solidFill>
                        </a:defRPr>
                      </a:pPr>
                      <a:r>
                        <a:t>run_nm_comparison.py</a:t>
                      </a:r>
                    </a:p>
                  </a:txBody>
                  <a:tcPr>
                    <a:solidFill>
                      <a:srgbClr val="EBF4FF"/>
                    </a:solidFill>
                  </a:tcPr>
                </a:tc>
                <a:tc>
                  <a:txBody>
                    <a:bodyPr/>
                    <a:lstStyle/>
                    <a:p>
                      <a:pPr>
                        <a:defRPr sz="1500" b="0">
                          <a:solidFill>
                            <a:srgbClr val="1A365D"/>
                          </a:solidFill>
                        </a:defRPr>
                      </a:pPr>
                      <a:r>
                        <a:t>dengue.csv (70k / 10k / 20k)</a:t>
                      </a:r>
                    </a:p>
                  </a:txBody>
                  <a:tcPr>
                    <a:solidFill>
                      <a:srgbClr val="EBF4FF"/>
                    </a:solidFill>
                  </a:tcPr>
                </a:tc>
                <a:tc>
                  <a:txBody>
                    <a:bodyPr/>
                    <a:lstStyle/>
                    <a:p>
                      <a:pPr>
                        <a:defRPr sz="1500" b="0">
                          <a:solidFill>
                            <a:srgbClr val="1A365D"/>
                          </a:solidFill>
                        </a:defRPr>
                      </a:pPr>
                      <a:r>
                        <a:t>Tables I–III, hold-out metrics, split summary</a:t>
                      </a:r>
                    </a:p>
                  </a:txBody>
                  <a:tcPr>
                    <a:solidFill>
                      <a:srgbClr val="EBF4FF"/>
                    </a:solidFill>
                  </a:tcPr>
                </a:tc>
              </a:tr>
              <a:tr h="457200">
                <a:tc>
                  <a:txBody>
                    <a:bodyPr/>
                    <a:lstStyle/>
                    <a:p>
                      <a:pPr>
                        <a:defRPr sz="1500" b="0">
                          <a:solidFill>
                            <a:srgbClr val="1A365D"/>
                          </a:solidFill>
                        </a:defRPr>
                      </a:pPr>
                      <a:r>
                        <a:t>run_nm_on_dataset_csv.py</a:t>
                      </a:r>
                    </a:p>
                  </a:txBody>
                  <a:tcPr>
                    <a:solidFill>
                      <a:srgbClr val="FFFFFF"/>
                    </a:solidFill>
                  </a:tcPr>
                </a:tc>
                <a:tc>
                  <a:txBody>
                    <a:bodyPr/>
                    <a:lstStyle/>
                    <a:p>
                      <a:pPr>
                        <a:defRPr sz="1500" b="0">
                          <a:solidFill>
                            <a:srgbClr val="1A365D"/>
                          </a:solidFill>
                        </a:defRPr>
                      </a:pPr>
                      <a:r>
                        <a:t>dataset.csv (Bangladesh)</a:t>
                      </a:r>
                    </a:p>
                  </a:txBody>
                  <a:tcPr>
                    <a:solidFill>
                      <a:srgbClr val="FFFFFF"/>
                    </a:solidFill>
                  </a:tcPr>
                </a:tc>
                <a:tc>
                  <a:txBody>
                    <a:bodyPr/>
                    <a:lstStyle/>
                    <a:p>
                      <a:pPr>
                        <a:defRPr sz="1500" b="0">
                          <a:solidFill>
                            <a:srgbClr val="1A365D"/>
                          </a:solidFill>
                        </a:defRPr>
                      </a:pPr>
                      <a:r>
                        <a:t>results/nmprediction_dataset_csv/</a:t>
                      </a:r>
                    </a:p>
                  </a:txBody>
                  <a:tcPr>
                    <a:solidFill>
                      <a:srgbClr val="FFFFFF"/>
                    </a:solidFill>
                  </a:tcPr>
                </a:tc>
              </a:tr>
              <a:tr h="457200">
                <a:tc>
                  <a:txBody>
                    <a:bodyPr/>
                    <a:lstStyle/>
                    <a:p>
                      <a:pPr>
                        <a:defRPr sz="1500" b="0">
                          <a:solidFill>
                            <a:srgbClr val="1A365D"/>
                          </a:solidFill>
                        </a:defRPr>
                      </a:pPr>
                      <a:r>
                        <a:t>run_nm_on_clinical.py</a:t>
                      </a:r>
                    </a:p>
                  </a:txBody>
                  <a:tcPr>
                    <a:solidFill>
                      <a:srgbClr val="EBF4FF"/>
                    </a:solidFill>
                  </a:tcPr>
                </a:tc>
                <a:tc>
                  <a:txBody>
                    <a:bodyPr/>
                    <a:lstStyle/>
                    <a:p>
                      <a:pPr>
                        <a:defRPr sz="1500" b="0">
                          <a:solidFill>
                            <a:srgbClr val="1A365D"/>
                          </a:solidFill>
                        </a:defRPr>
                      </a:pPr>
                      <a:r>
                        <a:t>Dengue_clinical_dataset.csv</a:t>
                      </a:r>
                    </a:p>
                  </a:txBody>
                  <a:tcPr>
                    <a:solidFill>
                      <a:srgbClr val="EBF4FF"/>
                    </a:solidFill>
                  </a:tcPr>
                </a:tc>
                <a:tc>
                  <a:txBody>
                    <a:bodyPr/>
                    <a:lstStyle/>
                    <a:p>
                      <a:pPr>
                        <a:defRPr sz="1500" b="0">
                          <a:solidFill>
                            <a:srgbClr val="1A365D"/>
                          </a:solidFill>
                        </a:defRPr>
                      </a:pPr>
                      <a:r>
                        <a:t>results/nmprediction_clinical/</a:t>
                      </a:r>
                    </a:p>
                  </a:txBody>
                  <a:tcPr>
                    <a:solidFill>
                      <a:srgbClr val="EBF4FF"/>
                    </a:solidFill>
                  </a:tcPr>
                </a:tc>
              </a:tr>
              <a:tr h="457200">
                <a:tc>
                  <a:txBody>
                    <a:bodyPr/>
                    <a:lstStyle/>
                    <a:p>
                      <a:pPr>
                        <a:defRPr sz="1500" b="0">
                          <a:solidFill>
                            <a:srgbClr val="1A365D"/>
                          </a:solidFill>
                        </a:defRPr>
                      </a:pPr>
                      <a:r>
                        <a:t>run_arff_disease_benchmark.py</a:t>
                      </a:r>
                    </a:p>
                  </a:txBody>
                  <a:tcPr>
                    <a:solidFill>
                      <a:srgbClr val="FFFFFF"/>
                    </a:solidFill>
                  </a:tcPr>
                </a:tc>
                <a:tc>
                  <a:txBody>
                    <a:bodyPr/>
                    <a:lstStyle/>
                    <a:p>
                      <a:pPr>
                        <a:defRPr sz="1500" b="0">
                          <a:solidFill>
                            <a:srgbClr val="1A365D"/>
                          </a:solidFill>
                        </a:defRPr>
                      </a:pPr>
                      <a:r>
                        <a:t>11 disease ARFFs</a:t>
                      </a:r>
                    </a:p>
                  </a:txBody>
                  <a:tcPr>
                    <a:solidFill>
                      <a:srgbClr val="FFFFFF"/>
                    </a:solidFill>
                  </a:tcPr>
                </a:tc>
                <a:tc>
                  <a:txBody>
                    <a:bodyPr/>
                    <a:lstStyle/>
                    <a:p>
                      <a:pPr>
                        <a:defRPr sz="1500" b="0">
                          <a:solidFill>
                            <a:srgbClr val="1A365D"/>
                          </a:solidFill>
                        </a:defRPr>
                      </a:pPr>
                      <a:r>
                        <a:t>results/arff_disease_comparison/</a:t>
                      </a:r>
                    </a:p>
                  </a:txBody>
                  <a:tcPr>
                    <a:solidFill>
                      <a:srgbClr val="FFFFFF"/>
                    </a:solidFill>
                  </a:tcPr>
                </a:tc>
              </a:tr>
              <a:tr h="457200">
                <a:tc>
                  <a:txBody>
                    <a:bodyPr/>
                    <a:lstStyle/>
                    <a:p>
                      <a:pPr>
                        <a:defRPr sz="1500" b="0">
                          <a:solidFill>
                            <a:srgbClr val="1A365D"/>
                          </a:solidFill>
                        </a:defRPr>
                      </a:pPr>
                      <a:r>
                        <a:t>run_imputation_comparison.py</a:t>
                      </a:r>
                    </a:p>
                  </a:txBody>
                  <a:tcPr>
                    <a:solidFill>
                      <a:srgbClr val="EBF4FF"/>
                    </a:solidFill>
                  </a:tcPr>
                </a:tc>
                <a:tc>
                  <a:txBody>
                    <a:bodyPr/>
                    <a:lstStyle/>
                    <a:p>
                      <a:pPr>
                        <a:defRPr sz="1500" b="0">
                          <a:solidFill>
                            <a:srgbClr val="1A365D"/>
                          </a:solidFill>
                        </a:defRPr>
                      </a:pPr>
                      <a:r>
                        <a:t>dataset.csv + MCAR</a:t>
                      </a:r>
                    </a:p>
                  </a:txBody>
                  <a:tcPr>
                    <a:solidFill>
                      <a:srgbClr val="EBF4FF"/>
                    </a:solidFill>
                  </a:tcPr>
                </a:tc>
                <a:tc>
                  <a:txBody>
                    <a:bodyPr/>
                    <a:lstStyle/>
                    <a:p>
                      <a:pPr>
                        <a:defRPr sz="1500" b="0">
                          <a:solidFill>
                            <a:srgbClr val="1A365D"/>
                          </a:solidFill>
                        </a:defRPr>
                      </a:pPr>
                      <a:r>
                        <a:t>results/imputation_dataset_csv/</a:t>
                      </a:r>
                    </a:p>
                  </a:txBody>
                  <a:tcPr>
                    <a:solidFill>
                      <a:srgbClr val="EBF4FF"/>
                    </a:solidFill>
                  </a:tcPr>
                </a:tc>
              </a:tr>
              <a:tr h="457200">
                <a:tc>
                  <a:txBody>
                    <a:bodyPr/>
                    <a:lstStyle/>
                    <a:p>
                      <a:pPr>
                        <a:defRPr sz="1500" b="0">
                          <a:solidFill>
                            <a:srgbClr val="1A365D"/>
                          </a:solidFill>
                        </a:defRPr>
                      </a:pPr>
                      <a:r>
                        <a:t>run_missforest_comparison.py</a:t>
                      </a:r>
                    </a:p>
                  </a:txBody>
                  <a:tcPr>
                    <a:solidFill>
                      <a:srgbClr val="FFFFFF"/>
                    </a:solidFill>
                  </a:tcPr>
                </a:tc>
                <a:tc>
                  <a:txBody>
                    <a:bodyPr/>
                    <a:lstStyle/>
                    <a:p>
                      <a:pPr>
                        <a:defRPr sz="1500" b="0">
                          <a:solidFill>
                            <a:srgbClr val="1A365D"/>
                          </a:solidFill>
                        </a:defRPr>
                      </a:pPr>
                      <a:r>
                        <a:t>Iris + 20% MCAR</a:t>
                      </a:r>
                    </a:p>
                  </a:txBody>
                  <a:tcPr>
                    <a:solidFill>
                      <a:srgbClr val="FFFFFF"/>
                    </a:solidFill>
                  </a:tcPr>
                </a:tc>
                <a:tc>
                  <a:txBody>
                    <a:bodyPr/>
                    <a:lstStyle/>
                    <a:p>
                      <a:pPr>
                        <a:defRPr sz="1500" b="0">
                          <a:solidFill>
                            <a:srgbClr val="1A365D"/>
                          </a:solidFill>
                        </a:defRPr>
                      </a:pPr>
                      <a:r>
                        <a:t>results/missforest_comparison/</a:t>
                      </a:r>
                    </a:p>
                  </a:txBody>
                  <a:tcPr>
                    <a:solidFill>
                      <a:srgbClr val="FFFFFF"/>
                    </a:solidFill>
                  </a:tcPr>
                </a:tc>
              </a:tr>
              <a:tr h="457200">
                <a:tc>
                  <a:txBody>
                    <a:bodyPr/>
                    <a:lstStyle/>
                    <a:p>
                      <a:pPr>
                        <a:defRPr sz="1500" b="0">
                          <a:solidFill>
                            <a:srgbClr val="1A365D"/>
                          </a:solidFill>
                        </a:defRPr>
                      </a:pPr>
                      <a:r>
                        <a:t>run_holdout_imputation_prediction.py</a:t>
                      </a:r>
                    </a:p>
                  </a:txBody>
                  <a:tcPr>
                    <a:solidFill>
                      <a:srgbClr val="EBF4FF"/>
                    </a:solidFill>
                  </a:tcPr>
                </a:tc>
                <a:tc>
                  <a:txBody>
                    <a:bodyPr/>
                    <a:lstStyle/>
                    <a:p>
                      <a:pPr>
                        <a:defRPr sz="1500" b="0">
                          <a:solidFill>
                            <a:srgbClr val="1A365D"/>
                          </a:solidFill>
                        </a:defRPr>
                      </a:pPr>
                      <a:r>
                        <a:t>5 dengue sets + 11 ARFFs</a:t>
                      </a:r>
                    </a:p>
                  </a:txBody>
                  <a:tcPr>
                    <a:solidFill>
                      <a:srgbClr val="EBF4FF"/>
                    </a:solidFill>
                  </a:tcPr>
                </a:tc>
                <a:tc>
                  <a:txBody>
                    <a:bodyPr/>
                    <a:lstStyle/>
                    <a:p>
                      <a:pPr>
                        <a:defRPr sz="1500" b="0">
                          <a:solidFill>
                            <a:srgbClr val="1A365D"/>
                          </a:solidFill>
                        </a:defRPr>
                      </a:pPr>
                      <a:r>
                        <a:t>results/holdout_imputation_prediction/</a:t>
                      </a:r>
                    </a:p>
                  </a:txBody>
                  <a:tcPr>
                    <a:solidFill>
                      <a:srgbClr val="EBF4FF"/>
                    </a:solidFill>
                  </a:tcPr>
                </a:tc>
              </a:tr>
              <a:tr h="457200">
                <a:tc>
                  <a:txBody>
                    <a:bodyPr/>
                    <a:lstStyle/>
                    <a:p>
                      <a:pPr>
                        <a:defRPr sz="1500" b="0">
                          <a:solidFill>
                            <a:srgbClr val="1A365D"/>
                          </a:solidFill>
                        </a:defRPr>
                      </a:pPr>
                      <a:r>
                        <a:t>build_comparison_pdf.py</a:t>
                      </a:r>
                    </a:p>
                  </a:txBody>
                  <a:tcPr>
                    <a:solidFill>
                      <a:srgbClr val="FFFFFF"/>
                    </a:solidFill>
                  </a:tcPr>
                </a:tc>
                <a:tc>
                  <a:txBody>
                    <a:bodyPr/>
                    <a:lstStyle/>
                    <a:p>
                      <a:pPr>
                        <a:defRPr sz="1500" b="0">
                          <a:solidFill>
                            <a:srgbClr val="1A365D"/>
                          </a:solidFill>
                        </a:defRPr>
                      </a:pPr>
                      <a:r>
                        <a:t>all results</a:t>
                      </a:r>
                    </a:p>
                  </a:txBody>
                  <a:tcPr>
                    <a:solidFill>
                      <a:srgbClr val="FFFFFF"/>
                    </a:solidFill>
                  </a:tcPr>
                </a:tc>
                <a:tc>
                  <a:txBody>
                    <a:bodyPr/>
                    <a:lstStyle/>
                    <a:p>
                      <a:pPr>
                        <a:defRPr sz="1500" b="0">
                          <a:solidFill>
                            <a:srgbClr val="1A365D"/>
                          </a:solidFill>
                        </a:defRPr>
                      </a:pPr>
                      <a:r>
                        <a:t>Performance comparison PDF (docs/)</a:t>
                      </a:r>
                    </a:p>
                  </a:txBody>
                  <a:tcPr>
                    <a:solidFill>
                      <a:srgbClr val="FFFFFF"/>
                    </a:solidFill>
                  </a:tcPr>
                </a:tc>
              </a:tr>
              <a:tr h="457200">
                <a:tc>
                  <a:txBody>
                    <a:bodyPr/>
                    <a:lstStyle/>
                    <a:p>
                      <a:pPr>
                        <a:defRPr sz="1500" b="0">
                          <a:solidFill>
                            <a:srgbClr val="1A365D"/>
                          </a:solidFill>
                        </a:defRPr>
                      </a:pPr>
                      <a:r>
                        <a:t>build_holdout_comparison_pdf.py</a:t>
                      </a:r>
                    </a:p>
                  </a:txBody>
                  <a:tcPr>
                    <a:solidFill>
                      <a:srgbClr val="EBF4FF"/>
                    </a:solidFill>
                  </a:tcPr>
                </a:tc>
                <a:tc>
                  <a:txBody>
                    <a:bodyPr/>
                    <a:lstStyle/>
                    <a:p>
                      <a:pPr>
                        <a:defRPr sz="1500" b="0">
                          <a:solidFill>
                            <a:srgbClr val="1A365D"/>
                          </a:solidFill>
                        </a:defRPr>
                      </a:pPr>
                      <a:r>
                        <a:t>hold-out results</a:t>
                      </a:r>
                    </a:p>
                  </a:txBody>
                  <a:tcPr>
                    <a:solidFill>
                      <a:srgbClr val="EBF4FF"/>
                    </a:solidFill>
                  </a:tcPr>
                </a:tc>
                <a:tc>
                  <a:txBody>
                    <a:bodyPr/>
                    <a:lstStyle/>
                    <a:p>
                      <a:pPr>
                        <a:defRPr sz="1500" b="0">
                          <a:solidFill>
                            <a:srgbClr val="1A365D"/>
                          </a:solidFill>
                        </a:defRPr>
                      </a:pPr>
                      <a:r>
                        <a:t>Imputation / prediction hold-out PDF (docs/)</a:t>
                      </a:r>
                    </a:p>
                  </a:txBody>
                  <a:tcPr>
                    <a:solidFill>
                      <a:srgbClr val="EBF4FF"/>
                    </a:solidFill>
                  </a:tcPr>
                </a:tc>
              </a:tr>
            </a:tbl>
          </a:graphicData>
        </a:graphic>
      </p:graphicFrame>
      <p:sp>
        <p:nvSpPr>
          <p:cNvPr id="4" name="TextBox 3"/>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CI/CD</a:t>
            </a:r>
            <a:r>
              <a:rPr sz="1600">
                <a:solidFill>
                  <a:srgbClr val="BEE3F8"/>
                </a:solidFill>
              </a:rPr>
              <a:t>   GitHub Actions</a:t>
            </a:r>
          </a:p>
        </p:txBody>
      </p:sp>
      <p:pic>
        <p:nvPicPr>
          <p:cNvPr id="3" name="Picture 2" descr="08-ci-cd.png"/>
          <p:cNvPicPr>
            <a:picLocks noChangeAspect="1"/>
          </p:cNvPicPr>
          <p:nvPr/>
        </p:nvPicPr>
        <p:blipFill>
          <a:blip r:embed="rId2"/>
          <a:stretch>
            <a:fillRect/>
          </a:stretch>
        </p:blipFill>
        <p:spPr>
          <a:xfrm>
            <a:off x="274320" y="2390609"/>
            <a:ext cx="11643055" cy="2168221"/>
          </a:xfrm>
          <a:prstGeom prst="rect">
            <a:avLst/>
          </a:prstGeom>
        </p:spPr>
      </p:pic>
      <p:sp>
        <p:nvSpPr>
          <p:cNvPr id="4" name="TextBox 3"/>
          <p:cNvSpPr txBox="1"/>
          <p:nvPr/>
        </p:nvSpPr>
        <p:spPr>
          <a:xfrm>
            <a:off x="274320" y="6080760"/>
            <a:ext cx="11643055" cy="457200"/>
          </a:xfrm>
          <a:prstGeom prst="rect">
            <a:avLst/>
          </a:prstGeom>
          <a:noFill/>
        </p:spPr>
        <p:txBody>
          <a:bodyPr wrap="square">
            <a:spAutoFit/>
          </a:bodyPr>
          <a:lstStyle/>
          <a:p>
            <a:pPr algn="ctr"/>
            <a:r>
              <a:rPr sz="1400" i="1">
                <a:solidFill>
                  <a:srgbClr val="4A5568"/>
                </a:solidFill>
              </a:rPr>
              <a:t>GitHub Actions on every push and pull request; a green push to main cuts a semver release.</a:t>
            </a:r>
          </a:p>
        </p:txBody>
      </p:sp>
      <p:sp>
        <p:nvSpPr>
          <p:cNvPr id="5" name="TextBox 4"/>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Design decisions and extension points</a:t>
            </a:r>
          </a:p>
        </p:txBody>
      </p:sp>
      <p:sp>
        <p:nvSpPr>
          <p:cNvPr id="3" name="TextBox 2"/>
          <p:cNvSpPr txBox="1"/>
          <p:nvPr/>
        </p:nvSpPr>
        <p:spPr>
          <a:xfrm>
            <a:off x="548640" y="1188720"/>
            <a:ext cx="11094415" cy="4937760"/>
          </a:xfrm>
          <a:prstGeom prst="rect">
            <a:avLst/>
          </a:prstGeom>
          <a:noFill/>
        </p:spPr>
        <p:txBody>
          <a:bodyPr wrap="square">
            <a:spAutoFit/>
          </a:bodyPr>
          <a:lstStyle/>
          <a:p>
            <a:pPr>
              <a:spcAft>
                <a:spcPts val="1000"/>
              </a:spcAft>
            </a:pPr>
            <a:r>
              <a:rPr sz="2400">
                <a:solidFill>
                  <a:srgbClr val="1A365D"/>
                </a:solidFill>
              </a:rPr>
              <a:t>•  NMI kept as an external library behind nmi_support</a:t>
            </a:r>
          </a:p>
          <a:p>
            <a:pPr lvl="1">
              <a:spcAft>
                <a:spcPts val="1000"/>
              </a:spcAft>
            </a:pPr>
            <a:r>
              <a:rPr sz="2100">
                <a:solidFill>
                  <a:srgbClr val="4A5568"/>
                </a:solidFill>
              </a:rPr>
              <a:t>      –  Swap the checkout with NMI_ROOT; no code changes</a:t>
            </a:r>
          </a:p>
          <a:p>
            <a:pPr>
              <a:spcAft>
                <a:spcPts val="1000"/>
              </a:spcAft>
            </a:pPr>
            <a:r>
              <a:rPr sz="2400">
                <a:solidFill>
                  <a:srgbClr val="1A365D"/>
                </a:solidFill>
              </a:rPr>
              <a:t>•  Pluggable learners through factories (baselines, classifiers)</a:t>
            </a:r>
          </a:p>
          <a:p>
            <a:pPr lvl="1">
              <a:spcAft>
                <a:spcPts val="1000"/>
              </a:spcAft>
            </a:pPr>
            <a:r>
              <a:rPr sz="2100">
                <a:solidFill>
                  <a:srgbClr val="4A5568"/>
                </a:solidFill>
              </a:rPr>
              <a:t>      –  GA wrapper can evaluate with ADT, SVM or decision tree</a:t>
            </a:r>
          </a:p>
          <a:p>
            <a:pPr>
              <a:spcAft>
                <a:spcPts val="1000"/>
              </a:spcAft>
            </a:pPr>
            <a:r>
              <a:rPr sz="2400">
                <a:solidFill>
                  <a:srgbClr val="1A365D"/>
                </a:solidFill>
              </a:rPr>
              <a:t>•  Disease-agnostic data layer</a:t>
            </a:r>
          </a:p>
          <a:p>
            <a:pPr lvl="1">
              <a:spcAft>
                <a:spcPts val="1000"/>
              </a:spcAft>
            </a:pPr>
            <a:r>
              <a:rPr sz="2100">
                <a:solidFill>
                  <a:srgbClr val="4A5568"/>
                </a:solidFill>
              </a:rPr>
              <a:t>      –  New datasets: add a CSV/ARFF loader, reuse run_dataset_comparison</a:t>
            </a:r>
          </a:p>
          <a:p>
            <a:pPr>
              <a:spcAft>
                <a:spcPts val="1000"/>
              </a:spcAft>
            </a:pPr>
            <a:r>
              <a:rPr sz="2400">
                <a:solidFill>
                  <a:srgbClr val="1A365D"/>
                </a:solidFill>
              </a:rPr>
              <a:t>•  Reproducibility</a:t>
            </a:r>
          </a:p>
          <a:p>
            <a:pPr lvl="1">
              <a:spcAft>
                <a:spcPts val="1000"/>
              </a:spcAft>
            </a:pPr>
            <a:r>
              <a:rPr sz="2100">
                <a:solidFill>
                  <a:srgbClr val="4A5568"/>
                </a:solidFill>
              </a:rPr>
              <a:t>      –  Fixed random seeds, scripted runs, PDF and diagrams regenerated from source</a:t>
            </a:r>
          </a:p>
        </p:txBody>
      </p:sp>
      <p:sp>
        <p:nvSpPr>
          <p:cNvPr id="4" name="TextBox 3"/>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800" b="1">
                <a:solidFill>
                  <a:srgbClr val="FFFFFF"/>
                </a:solidFill>
              </a:rPr>
              <a:t>Running and regenerating</a:t>
            </a:r>
          </a:p>
        </p:txBody>
      </p:sp>
      <p:sp>
        <p:nvSpPr>
          <p:cNvPr id="3" name="TextBox 2"/>
          <p:cNvSpPr txBox="1"/>
          <p:nvPr/>
        </p:nvSpPr>
        <p:spPr>
          <a:xfrm>
            <a:off x="548640" y="1188720"/>
            <a:ext cx="11094415" cy="4572000"/>
          </a:xfrm>
          <a:prstGeom prst="rect">
            <a:avLst/>
          </a:prstGeom>
          <a:noFill/>
        </p:spPr>
        <p:txBody>
          <a:bodyPr wrap="square">
            <a:spAutoFit/>
          </a:bodyPr>
          <a:lstStyle/>
          <a:p>
            <a:pPr>
              <a:spcAft>
                <a:spcPts val="1000"/>
              </a:spcAft>
            </a:pPr>
            <a:r>
              <a:rPr sz="1800">
                <a:solidFill>
                  <a:srgbClr val="1A365D"/>
                </a:solidFill>
                <a:latin typeface="Courier New"/>
              </a:rPr>
              <a:t>source .venv/bin/activate</a:t>
            </a:r>
          </a:p>
          <a:p>
            <a:pPr>
              <a:spcAft>
                <a:spcPts val="1000"/>
              </a:spcAft>
            </a:pPr>
            <a:r>
              <a:rPr sz="1800">
                <a:solidFill>
                  <a:srgbClr val="1A365D"/>
                </a:solidFill>
                <a:latin typeface="Courier New"/>
              </a:rPr>
              <a:t>python scripts/run_nm_comparison.py                 # dengue.csv experiment</a:t>
            </a:r>
          </a:p>
          <a:p>
            <a:pPr>
              <a:spcAft>
                <a:spcPts val="1000"/>
              </a:spcAft>
            </a:pPr>
            <a:r>
              <a:rPr sz="1800">
                <a:solidFill>
                  <a:srgbClr val="1A365D"/>
                </a:solidFill>
                <a:latin typeface="Courier New"/>
              </a:rPr>
              <a:t>python scripts/run_arff_disease_benchmark.py        # multi-disease ARFFs</a:t>
            </a:r>
          </a:p>
          <a:p>
            <a:pPr>
              <a:spcAft>
                <a:spcPts val="1000"/>
              </a:spcAft>
            </a:pPr>
            <a:r>
              <a:rPr sz="1800">
                <a:solidFill>
                  <a:srgbClr val="1A365D"/>
                </a:solidFill>
                <a:latin typeface="Courier New"/>
              </a:rPr>
              <a:t>python scripts/run_holdout_imputation_prediction.py # hold-out experiment</a:t>
            </a:r>
          </a:p>
          <a:p>
            <a:pPr>
              <a:spcAft>
                <a:spcPts val="1000"/>
              </a:spcAft>
            </a:pPr>
            <a:r>
              <a:rPr sz="1800">
                <a:solidFill>
                  <a:srgbClr val="1A365D"/>
                </a:solidFill>
                <a:latin typeface="Courier New"/>
              </a:rPr>
              <a:t>python scripts/build_comparison_pdf.py              # performance report</a:t>
            </a:r>
          </a:p>
          <a:p>
            <a:pPr>
              <a:spcAft>
                <a:spcPts val="1000"/>
              </a:spcAft>
            </a:pPr>
            <a:r>
              <a:rPr sz="1800">
                <a:solidFill>
                  <a:srgbClr val="1A365D"/>
                </a:solidFill>
                <a:latin typeface="Courier New"/>
              </a:rPr>
              <a:t>python scripts/build_holdout_comparison_pdf.py      # hold-out report</a:t>
            </a:r>
          </a:p>
          <a:p>
            <a:pPr>
              <a:spcAft>
                <a:spcPts val="1000"/>
              </a:spcAft>
            </a:pPr>
            <a:r>
              <a:rPr sz="1800">
                <a:solidFill>
                  <a:srgbClr val="1A365D"/>
                </a:solidFill>
                <a:latin typeface="Courier New"/>
              </a:rPr>
              <a:t>python scripts/render_architecture_diagrams.py      # diagrams</a:t>
            </a:r>
          </a:p>
          <a:p>
            <a:pPr>
              <a:spcAft>
                <a:spcPts val="1000"/>
              </a:spcAft>
            </a:pPr>
            <a:r>
              <a:rPr sz="1800">
                <a:solidFill>
                  <a:srgbClr val="1A365D"/>
                </a:solidFill>
                <a:latin typeface="Courier New"/>
              </a:rPr>
              <a:t>python scripts/build_architecture_slides.py --pdf   # this deck</a:t>
            </a:r>
          </a:p>
          <a:p>
            <a:pPr>
              <a:spcAft>
                <a:spcPts val="1000"/>
              </a:spcAft>
            </a:pPr>
            <a:r>
              <a:rPr sz="1800">
                <a:solidFill>
                  <a:srgbClr val="1A365D"/>
                </a:solidFill>
                <a:latin typeface="Courier New"/>
              </a:rPr>
              <a:t>bash scripts/ci_local.sh                            # CI gates before push</a:t>
            </a:r>
          </a:p>
        </p:txBody>
      </p:sp>
      <p:sp>
        <p:nvSpPr>
          <p:cNvPr id="4" name="TextBox 3"/>
          <p:cNvSpPr txBox="1"/>
          <p:nvPr/>
        </p:nvSpPr>
        <p:spPr>
          <a:xfrm>
            <a:off x="274320" y="6492240"/>
            <a:ext cx="11643055" cy="274320"/>
          </a:xfrm>
          <a:prstGeom prst="rect">
            <a:avLst/>
          </a:prstGeom>
          <a:noFill/>
        </p:spPr>
        <p:txBody>
          <a:bodyPr wrap="none">
            <a:spAutoFit/>
          </a:bodyPr>
          <a:lstStyle/>
          <a:p>
            <a:pPr algn="r"/>
            <a:r>
              <a:rPr sz="1000">
                <a:solidFill>
                  <a:srgbClr val="4A5568"/>
                </a:solidFill>
              </a:rPr>
              <a:t>DengueCAD architecture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
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DengueCAD is a disease-agnostic CAD stack. This deck walks through its components, the NMPrediction algorithm, data protocols, evaluation and CI/CD.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library does not assume dengue; any tabular dataset with a decision column can go through the same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to right: the data folder, the scripts that orchestrate each experiment, the library layers, and outputs. NMI is a separate repository located via NMI_ROOT or ../NMI.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layer only depends on layers below it; the evaluation layer is what the experiment scripts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Steps 1–2 impute only if values are missing. Step 3 is the GA wrapper. Steps 4–8 pool fold predictions to compute AUC, SE and SP. The selected features are also used for the hold-out validation and test 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Chromosomes are bit masks over features. Fitness is cross-validated accuracy minus a penalty proportional to subset size, which favours compact subsets.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comparison orchestrates NM and baselines. nm_prediction depends on feature_selection, baselines, metrics and nmi_support. adt is shared by baselines and the GA classifier factory.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70k rows go through NMI and NMPrediction as one dataset. From the rest, records with any missing value are dropped; the first 10k complete records are validation and the next 20k are the test set used to report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I reports pooled metrics, Table II the Wilcoxon test of NM against each baseline, Table III the features NM selected. Everything is collected in the comparison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Used for dataset.csv and the canonical MissForest Iris demo (20% MCAR). Categorical cells must match exactly; real values within 5% relative tolerance.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results/ is git-ignored; the PDF report is the committed record of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gates run locally with scripts/ci_local.sh before pushing. System tests clone the NMI library and use the datasets in data/.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seams to use when adding a disease dataset, a new imputer or a new classifier.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Diagrams live as Mermaid in docs/ARCHITECTURE.md; images and slides are generated.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72865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5400" b="1">
                <a:solidFill>
                  <a:srgbClr val="FFFFFF"/>
                </a:solidFill>
              </a:rPr>
              <a:t>DengueCAD</a:t>
            </a:r>
          </a:p>
          <a:p>
            <a:pPr>
              <a:spcAft>
                <a:spcPts val="1200"/>
              </a:spcAft>
            </a:pPr>
            <a:r>
              <a:rPr sz="3200" b="0">
                <a:solidFill>
                  <a:srgbClr val="BEE3F8"/>
                </a:solidFill>
              </a:rPr>
              <a:t>System Architecture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</a:rPr>
              <a:t>NMI imputation + NMPrediction (IEEE TITB 2012, Algorithm 1) for computer-aided diagnosis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A0AEC0"/>
                </a:solidFill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DengueCAD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1A365D"/>
                </a:solidFill>
              </a:rPr>
              <a:t>•  Implements NMPrediction (Rao &amp; Kumar, IEEE TITB 2012)</a:t>
            </a:r>
          </a:p>
          <a:p>
            <a:pPr lvl="1">
              <a:spcAft>
                <a:spcPts val="1000"/>
              </a:spcAft>
            </a:pPr>
            <a:r>
              <a:rPr sz="2100">
                <a:solidFill>
                  <a:srgbClr val="4A5568"/>
                </a:solidFill>
              </a:rPr>
              <a:t>      –  NMI imputation → GA wrapper feature selection → stratified 10-fold ADT</a:t>
            </a:r>
          </a:p>
          <a:p>
            <a:pPr lvl="1">
              <a:spcAft>
                <a:spcPts val="1000"/>
              </a:spcAft>
            </a:pPr>
            <a:r>
              <a:rPr sz="2100">
                <a:solidFill>
                  <a:srgbClr val="4A5568"/>
                </a:solidFill>
              </a:rPr>
              <a:t>      –  Reports Accuracy, AUC, Sensitivity (SE), Specificity (SP)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1A365D"/>
                </a:solidFill>
              </a:rPr>
              <a:t>•  Compares NM against C4.5, Logistic Regression (LOR) and SVM (RBF)</a:t>
            </a:r>
          </a:p>
          <a:p>
            <a:pPr lvl="1">
              <a:spcAft>
                <a:spcPts val="1000"/>
              </a:spcAft>
            </a:pPr>
            <a:r>
              <a:rPr sz="2100">
                <a:solidFill>
                  <a:srgbClr val="4A5568"/>
                </a:solidFill>
              </a:rPr>
              <a:t>      –  Table I performance · Table II Wilcoxon test · Table III influential features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1A365D"/>
                </a:solidFill>
              </a:rPr>
              <a:t>•  Benchmarks imputation: NMI vs MissForest, MICE, kNN, Mean/Median/Mode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1A365D"/>
                </a:solidFill>
              </a:rPr>
              <a:t>•  Disease-agnostic: dengue CSVs plus 11 KEEL / Weka ARFF disease datasets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1A365D"/>
                </a:solidFill>
              </a:rPr>
              <a:t>•  Reproducible: scripted experiments, generated PDF report, CI on every push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92240"/>
            <a:ext cx="116430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5568"/>
                </a:solidFill>
              </a:rPr>
              <a:t>DengueCAD architecture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l"/>
            <a:r>
              <a:rPr sz="2800" b="1">
                <a:solidFill>
                  <a:srgbClr val="FFFFFF"/>
                </a:solidFill>
              </a:rPr>
              <a:t>System overview</a:t>
            </a:r>
          </a:p>
        </p:txBody>
      </p:sp>
      <p:pic>
        <p:nvPicPr>
          <p:cNvPr id="3" name="Picture 2" descr="01-system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046" y="914400"/>
            <a:ext cx="9815603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6080760"/>
            <a:ext cx="11643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>
                <a:solidFill>
                  <a:srgbClr val="4A5568"/>
                </a:solidFill>
              </a:rPr>
              <a:t>Data sources → experiment scripts → denguecad package → CSV results and PDF report; imputation delegates to the sibling NMI library.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16430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5568"/>
                </a:solidFill>
              </a:rPr>
              <a:t>DengueCAD architecture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l"/>
            <a:r>
              <a:rPr sz="2800" b="1">
                <a:solidFill>
                  <a:srgbClr val="FFFFFF"/>
                </a:solidFill>
              </a:rPr>
              <a:t>Package components</a:t>
            </a:r>
            <a:r>
              <a:rPr sz="1600">
                <a:solidFill>
                  <a:srgbClr val="BEE3F8"/>
                </a:solidFill>
              </a:rPr>
              <a:t>   denguecad/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4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3260"/>
                <a:gridCol w="4412105"/>
                <a:gridCol w="5637689"/>
              </a:tblGrid>
              <a:tr h="54864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2C52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Modules</a:t>
                      </a:r>
                    </a:p>
                  </a:txBody>
                  <a:tcPr>
                    <a:solidFill>
                      <a:srgbClr val="2C52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Responsibility</a:t>
                      </a:r>
                    </a:p>
                  </a:txBody>
                  <a:tcPr>
                    <a:solidFill>
                      <a:srgbClr val="2C528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A365D"/>
                          </a:solidFill>
                        </a:defRPr>
                      </a:pPr>
                      <a:r>
                        <a:t>Data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A365D"/>
                          </a:solidFill>
                        </a:defRPr>
                      </a:pPr>
                      <a:r>
                        <a:t>data_splits · arff_io · imputation_benchmark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A365D"/>
                          </a:solidFill>
                        </a:defRPr>
                      </a:pPr>
                      <a:r>
                        <a:t>Load, encode, split (70k / 10k / 20k), ARFF with KEEL ranges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A365D"/>
                          </a:solidFill>
                        </a:defRPr>
                      </a:pPr>
                      <a:r>
                        <a:t>Imputation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A365D"/>
                          </a:solidFill>
                        </a:defRPr>
                      </a:pPr>
                      <a:r>
                        <a:t>nmi_support · imputation_benchmark · missforest_impute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A365D"/>
                          </a:solidFill>
                        </a:defRPr>
                      </a:pPr>
                      <a:r>
                        <a:t>NMI, MICE, kNN, Mean/Mode, MissForest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A365D"/>
                          </a:solidFill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A365D"/>
                          </a:solidFill>
                        </a:defRPr>
                      </a:pPr>
                      <a:r>
                        <a:t>nm_prediction · feature_selection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A365D"/>
                          </a:solidFill>
                        </a:defRPr>
                      </a:pPr>
                      <a:r>
                        <a:t>NMPrediction (Algorithm 1), GA wrapper search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A365D"/>
                          </a:solidFill>
                        </a:defRPr>
                      </a:pPr>
                      <a:r>
                        <a:t>Learners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A365D"/>
                          </a:solidFill>
                        </a:defRPr>
                      </a:pPr>
                      <a:r>
                        <a:t>adt · baselines · classifiers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A365D"/>
                          </a:solidFill>
                        </a:defRPr>
                      </a:pPr>
                      <a:r>
                        <a:t>ADT, C4.5, LOR, SVM (RBF), classifier factory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A365D"/>
                          </a:solidFill>
                        </a:defRPr>
                      </a:pPr>
                      <a:r>
                        <a:t>Evaluation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A365D"/>
                          </a:solidFill>
                        </a:defRPr>
                      </a:pPr>
                      <a:r>
                        <a:t>metrics · comparison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A365D"/>
                          </a:solidFill>
                        </a:defRPr>
                      </a:pPr>
                      <a:r>
                        <a:t>Accuracy/AUC/SE/SP, Tables I–III, Wilcoxon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A365D"/>
                          </a:solidFill>
                        </a:defRPr>
                      </a:pPr>
                      <a:r>
                        <a:t>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A365D"/>
                          </a:solidFill>
                        </a:defRPr>
                      </a:pPr>
                      <a:r>
                        <a:t>scripts/build_comparison_pdf.py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A365D"/>
                          </a:solidFill>
                        </a:defRPr>
                      </a:pPr>
                      <a:r>
                        <a:t>PDF with legend; red = best, green = NM when not best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6492240"/>
            <a:ext cx="116430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5568"/>
                </a:solidFill>
              </a:rPr>
              <a:t>DengueCAD architecture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l"/>
            <a:r>
              <a:rPr sz="2800" b="1">
                <a:solidFill>
                  <a:srgbClr val="FFFFFF"/>
                </a:solidFill>
              </a:rPr>
              <a:t>NMPrediction pipeline</a:t>
            </a:r>
            <a:r>
              <a:rPr sz="1600">
                <a:solidFill>
                  <a:srgbClr val="BEE3F8"/>
                </a:solidFill>
              </a:rPr>
              <a:t>   Algorithm 1</a:t>
            </a:r>
          </a:p>
        </p:txBody>
      </p:sp>
      <p:pic>
        <p:nvPicPr>
          <p:cNvPr id="3" name="Picture 2" descr="02-nmprediction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0454"/>
            <a:ext cx="11643055" cy="41285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6080760"/>
            <a:ext cx="11643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>
                <a:solidFill>
                  <a:srgbClr val="4A5568"/>
                </a:solidFill>
              </a:rPr>
              <a:t>Algorithm 1: impute missing values with NMI, pick influential features with a GA wrapper, then score ADT with stratified 10-fold CV.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16430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5568"/>
                </a:solidFill>
              </a:rPr>
              <a:t>DengueCAD architecture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l"/>
            <a:r>
              <a:rPr sz="2800" b="1">
                <a:solidFill>
                  <a:srgbClr val="FFFFFF"/>
                </a:solidFill>
              </a:rPr>
              <a:t>GA wrapper feature selection</a:t>
            </a:r>
            <a:r>
              <a:rPr sz="1600">
                <a:solidFill>
                  <a:srgbClr val="BEE3F8"/>
                </a:solidFill>
              </a:rPr>
              <a:t>   Section C</a:t>
            </a:r>
          </a:p>
        </p:txBody>
      </p:sp>
      <p:pic>
        <p:nvPicPr>
          <p:cNvPr id="3" name="Picture 2" descr="03-ga-wrap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105" y="914400"/>
            <a:ext cx="10427485" cy="51206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6080760"/>
            <a:ext cx="11643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>
                <a:solidFill>
                  <a:srgbClr val="4A5568"/>
                </a:solidFill>
              </a:rPr>
              <a:t>Kohavi &amp; John wrapper: the classifier scores each subset. Pc = 1.0, Pm = 0.001, elitism 2, tournament 3, small subset-size penalty.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16430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5568"/>
                </a:solidFill>
              </a:rPr>
              <a:t>DengueCAD architecture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l"/>
            <a:r>
              <a:rPr sz="2800" b="1">
                <a:solidFill>
                  <a:srgbClr val="FFFFFF"/>
                </a:solidFill>
              </a:rPr>
              <a:t>Module dependencies</a:t>
            </a:r>
          </a:p>
        </p:txBody>
      </p:sp>
      <p:pic>
        <p:nvPicPr>
          <p:cNvPr id="3" name="Picture 2" descr="04-module-dependen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8586"/>
            <a:ext cx="11643055" cy="47522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6080760"/>
            <a:ext cx="11643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>
                <a:solidFill>
                  <a:srgbClr val="4A5568"/>
                </a:solidFill>
              </a:rPr>
              <a:t>Arrows point to imported modules. Only nmi_support touches the external NMI library.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16430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5568"/>
                </a:solidFill>
              </a:rPr>
              <a:t>DengueCAD architecture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l"/>
            <a:r>
              <a:rPr sz="2800" b="1">
                <a:solidFill>
                  <a:srgbClr val="FFFFFF"/>
                </a:solidFill>
              </a:rPr>
              <a:t>Data protocol: dengue.csv</a:t>
            </a:r>
          </a:p>
        </p:txBody>
      </p:sp>
      <p:pic>
        <p:nvPicPr>
          <p:cNvPr id="3" name="Picture 2" descr="05-dengue-data-protoc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55493"/>
            <a:ext cx="11643055" cy="36384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6080760"/>
            <a:ext cx="11643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>
                <a:solidFill>
                  <a:srgbClr val="4A5568"/>
                </a:solidFill>
              </a:rPr>
              <a:t>70,000-row single training set · 10,000 complete-case validation · 20,000 complete-case test.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16430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5568"/>
                </a:solidFill>
              </a:rPr>
              <a:t>DengueCAD architecture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l"/>
            <a:r>
              <a:rPr sz="2800" b="1">
                <a:solidFill>
                  <a:srgbClr val="FFFFFF"/>
                </a:solidFill>
              </a:rPr>
              <a:t>NM vs baselines evaluation</a:t>
            </a:r>
          </a:p>
        </p:txBody>
      </p:sp>
      <p:pic>
        <p:nvPicPr>
          <p:cNvPr id="3" name="Picture 2" descr="06-evaluation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88178"/>
            <a:ext cx="11643055" cy="41730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6080760"/>
            <a:ext cx="11643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>
                <a:solidFill>
                  <a:srgbClr val="4A5568"/>
                </a:solidFill>
              </a:rPr>
              <a:t>All methods share the same folds; per-fold accuracies feed the Wilcoxon signed-rank test.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16430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5568"/>
                </a:solidFill>
              </a:rPr>
              <a:t>DengueCAD architecture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l"/>
            <a:r>
              <a:rPr sz="2800" b="1">
                <a:solidFill>
                  <a:srgbClr val="FFFFFF"/>
                </a:solidFill>
              </a:rPr>
              <a:t>Imputation benchmark</a:t>
            </a:r>
          </a:p>
        </p:txBody>
      </p:sp>
      <p:pic>
        <p:nvPicPr>
          <p:cNvPr id="3" name="Picture 2" descr="07-imputation-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1349"/>
            <a:ext cx="11643055" cy="43067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6080760"/>
            <a:ext cx="11643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>
                <a:solidFill>
                  <a:srgbClr val="4A5568"/>
                </a:solidFill>
              </a:rPr>
              <a:t>Mask a complete dataset with MCAR missingness, impute with each method, score against ground truth and downstream classifiers.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16430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5568"/>
                </a:solidFill>
              </a:rPr>
              <a:t>DengueCAD architecture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l"/>
            <a:r>
              <a:rPr sz="2800" b="1">
                <a:solidFill>
                  <a:srgbClr val="FFFFFF"/>
                </a:solidFill>
              </a:rPr>
              <a:t>Experiment runners and outputs</a:t>
            </a:r>
            <a:r>
              <a:rPr sz="1600">
                <a:solidFill>
                  <a:srgbClr val="BEE3F8"/>
                </a:solidFill>
              </a:rPr>
              <a:t>   scripts/ → results/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3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4884"/>
                <a:gridCol w="3514884"/>
                <a:gridCol w="4613285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</a:defRPr>
                      </a:pPr>
                      <a:r>
                        <a:t>Script</a:t>
                      </a:r>
                    </a:p>
                  </a:txBody>
                  <a:tcPr>
                    <a:solidFill>
                      <a:srgbClr val="2C52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2C52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2C528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365D"/>
                          </a:solidFill>
                        </a:defRPr>
                      </a:pPr>
                      <a:r>
                        <a:t>run_nm_comparison.py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365D"/>
                          </a:solidFill>
                        </a:defRPr>
                      </a:pPr>
                      <a:r>
                        <a:t>dengue.csv (70k / 10k / 20k)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365D"/>
                          </a:solidFill>
                        </a:defRPr>
                      </a:pPr>
                      <a:r>
                        <a:t>Tables I–III, hold-out metrics, split summary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365D"/>
                          </a:solidFill>
                        </a:defRPr>
                      </a:pPr>
                      <a:r>
                        <a:t>run_nm_on_dataset_csv.py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365D"/>
                          </a:solidFill>
                        </a:defRPr>
                      </a:pPr>
                      <a:r>
                        <a:t>dataset.csv (Bangladesh)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365D"/>
                          </a:solidFill>
                        </a:defRPr>
                      </a:pPr>
                      <a:r>
                        <a:t>results/nmprediction_dataset_csv/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365D"/>
                          </a:solidFill>
                        </a:defRPr>
                      </a:pPr>
                      <a:r>
                        <a:t>run_nm_on_clinical.py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365D"/>
                          </a:solidFill>
                        </a:defRPr>
                      </a:pPr>
                      <a:r>
                        <a:t>Dengue_clinical_dataset.csv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365D"/>
                          </a:solidFill>
                        </a:defRPr>
                      </a:pPr>
                      <a:r>
                        <a:t>results/nmprediction_clinical/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365D"/>
                          </a:solidFill>
                        </a:defRPr>
                      </a:pPr>
                      <a:r>
                        <a:t>run_arff_disease_benchmark.py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365D"/>
                          </a:solidFill>
                        </a:defRPr>
                      </a:pPr>
                      <a:r>
                        <a:t>11 disease ARFFs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365D"/>
                          </a:solidFill>
                        </a:defRPr>
                      </a:pPr>
                      <a:r>
                        <a:t>results/arff_disease_comparison/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365D"/>
                          </a:solidFill>
                        </a:defRPr>
                      </a:pPr>
                      <a:r>
                        <a:t>run_imputation_comparison.py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365D"/>
                          </a:solidFill>
                        </a:defRPr>
                      </a:pPr>
                      <a:r>
                        <a:t>dataset.csv + MCAR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365D"/>
                          </a:solidFill>
                        </a:defRPr>
                      </a:pPr>
                      <a:r>
                        <a:t>results/imputation_dataset_csv/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365D"/>
                          </a:solidFill>
                        </a:defRPr>
                      </a:pPr>
                      <a:r>
                        <a:t>run_missforest_comparison.py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365D"/>
                          </a:solidFill>
                        </a:defRPr>
                      </a:pPr>
                      <a:r>
                        <a:t>Iris + 20% MCAR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365D"/>
                          </a:solidFill>
                        </a:defRPr>
                      </a:pPr>
                      <a:r>
                        <a:t>results/missforest_comparison/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365D"/>
                          </a:solidFill>
                        </a:defRPr>
                      </a:pPr>
                      <a:r>
                        <a:t>build_comparison_pdf.py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365D"/>
                          </a:solidFill>
                        </a:defRPr>
                      </a:pPr>
                      <a:r>
                        <a:t>all results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365D"/>
                          </a:solidFill>
                        </a:defRPr>
                      </a:pPr>
                      <a:r>
                        <a:t>Performance comparison PDF (docs/)</a:t>
                      </a:r>
                    </a:p>
                  </a:txBody>
                  <a:tcPr>
                    <a:solidFill>
                      <a:srgbClr val="EBF4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6492240"/>
            <a:ext cx="116430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5568"/>
                </a:solidFill>
              </a:rPr>
              <a:t>DengueCAD architecture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l"/>
            <a:r>
              <a:rPr sz="2800" b="1">
                <a:solidFill>
                  <a:srgbClr val="FFFFFF"/>
                </a:solidFill>
              </a:rPr>
              <a:t>CI/CD</a:t>
            </a:r>
            <a:r>
              <a:rPr sz="1600">
                <a:solidFill>
                  <a:srgbClr val="BEE3F8"/>
                </a:solidFill>
              </a:rPr>
              <a:t>   GitHub Actions</a:t>
            </a:r>
          </a:p>
        </p:txBody>
      </p:sp>
      <p:pic>
        <p:nvPicPr>
          <p:cNvPr id="3" name="Picture 2" descr="08-ci-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390609"/>
            <a:ext cx="11643055" cy="21682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6080760"/>
            <a:ext cx="11643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>
                <a:solidFill>
                  <a:srgbClr val="4A5568"/>
                </a:solidFill>
              </a:rPr>
              <a:t>GitHub Actions on every push and pull request; a green push to main cuts a semver release.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16430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5568"/>
                </a:solidFill>
              </a:rPr>
              <a:t>DengueCAD architecture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l"/>
            <a:r>
              <a:rPr sz="2800" b="1">
                <a:solidFill>
                  <a:srgbClr val="FFFFFF"/>
                </a:solidFill>
              </a:rPr>
              <a:t>Design decisions and extension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1A365D"/>
                </a:solidFill>
              </a:rPr>
              <a:t>•  NMI kept as an external library behind nmi_support</a:t>
            </a:r>
          </a:p>
          <a:p>
            <a:pPr lvl="1">
              <a:spcAft>
                <a:spcPts val="1000"/>
              </a:spcAft>
            </a:pPr>
            <a:r>
              <a:rPr sz="2100">
                <a:solidFill>
                  <a:srgbClr val="4A5568"/>
                </a:solidFill>
              </a:rPr>
              <a:t>      –  Swap the checkout with NMI_ROOT; no code changes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1A365D"/>
                </a:solidFill>
              </a:rPr>
              <a:t>•  Pluggable learners through factories (baselines, classifiers)</a:t>
            </a:r>
          </a:p>
          <a:p>
            <a:pPr lvl="1">
              <a:spcAft>
                <a:spcPts val="1000"/>
              </a:spcAft>
            </a:pPr>
            <a:r>
              <a:rPr sz="2100">
                <a:solidFill>
                  <a:srgbClr val="4A5568"/>
                </a:solidFill>
              </a:rPr>
              <a:t>      –  GA wrapper can evaluate with ADT, SVM or decision tree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1A365D"/>
                </a:solidFill>
              </a:rPr>
              <a:t>•  Disease-agnostic data layer</a:t>
            </a:r>
          </a:p>
          <a:p>
            <a:pPr lvl="1">
              <a:spcAft>
                <a:spcPts val="1000"/>
              </a:spcAft>
            </a:pPr>
            <a:r>
              <a:rPr sz="2100">
                <a:solidFill>
                  <a:srgbClr val="4A5568"/>
                </a:solidFill>
              </a:rPr>
              <a:t>      –  New datasets: add a CSV/ARFF loader, reuse run_dataset_comparison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1A365D"/>
                </a:solidFill>
              </a:rPr>
              <a:t>•  Reproducibility</a:t>
            </a:r>
          </a:p>
          <a:p>
            <a:pPr lvl="1">
              <a:spcAft>
                <a:spcPts val="1000"/>
              </a:spcAft>
            </a:pPr>
            <a:r>
              <a:rPr sz="2100">
                <a:solidFill>
                  <a:srgbClr val="4A5568"/>
                </a:solidFill>
              </a:rPr>
              <a:t>      –  Fixed random seeds, scripted runs, PDF and diagrams regenerated from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92240"/>
            <a:ext cx="116430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5568"/>
                </a:solidFill>
              </a:rPr>
              <a:t>DengueCAD architecture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l"/>
            <a:r>
              <a:rPr sz="2800" b="1">
                <a:solidFill>
                  <a:srgbClr val="FFFFFF"/>
                </a:solidFill>
              </a:rPr>
              <a:t>Running and regenerating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441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A365D"/>
                </a:solidFill>
                <a:latin typeface="Courier New"/>
              </a:rPr>
              <a:t>source .venv/bin/activate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A365D"/>
                </a:solidFill>
                <a:latin typeface="Courier New"/>
              </a:rPr>
              <a:t>python scripts/run_nm_comparison.py            # dengue.csv experiment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A365D"/>
                </a:solidFill>
                <a:latin typeface="Courier New"/>
              </a:rPr>
              <a:t>python scripts/run_arff_disease_benchmark.py   # multi-disease ARFFs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A365D"/>
                </a:solidFill>
                <a:latin typeface="Courier New"/>
              </a:rPr>
              <a:t>python scripts/build_comparison_pdf.py         # performance report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A365D"/>
                </a:solidFill>
                <a:latin typeface="Courier New"/>
              </a:rPr>
              <a:t>python scripts/render_architecture_diagrams.py # diagrams from ARCHITECTURE.md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A365D"/>
                </a:solidFill>
                <a:latin typeface="Courier New"/>
              </a:rPr>
              <a:t>python scripts/build_architecture_slides.py    # this deck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A365D"/>
                </a:solidFill>
                <a:latin typeface="Courier New"/>
              </a:rPr>
              <a:t>bash scripts/ci_local.sh                       # CI gates before push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92240"/>
            <a:ext cx="116430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5568"/>
                </a:solidFill>
              </a:rPr>
              <a:t>DengueCAD architecture  · 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